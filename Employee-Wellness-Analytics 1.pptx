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Hubot Sans" panose="020B0604020202020204" charset="0"/>
      <p:regular r:id="rId13"/>
    </p:embeddedFont>
    <p:embeddedFont>
      <p:font typeface="Hubot Sans Bold" panose="020B0604020202020204" charset="0"/>
      <p:regular r:id="rId14"/>
    </p:embeddedFont>
    <p:embeddedFont>
      <p:font typeface="Mozilla Headlin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9EB6E-6111-CA83-6C02-3A217411621C}" v="31" dt="2026-10-05T04:47:28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72902-D435-4879-BA26-A75D916C3BD1}" type="datetimeFigureOut"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8D4A6-B37F-44DC-9682-A0DEB8BFD5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5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Employee Wellness Analytics built entirely in Microsoft Power BI Desktop, covering data preparation, star schema modeling, and interactive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project lifecycle: ingestion of CSVs, Power Query transformations, DAX date modeling, and deployment of executive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core tables: Employee Profile dimension, Wellness Activities fact table, and the dedicated DAX Date dimension, emphasizing key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transformed tables in Power BI Desktop: the employee profile dimension on the left, and the normalized wellness activities fact table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star schema structure, active filtering paths, and how the inactive relationship on Enrollment Date is invoked using DAX USERELATIONSHIP.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dual-page report structure: Page 1 provides high-level executive tracking while Page 2 facilitates departmental and behavioral drill-downs.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provides a high-level view of employee wellness scores, activity duration and monthly wellness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Page 2 deep-dive analytics: highlight the key benchmark metric of 79.93 Average Wellness Score and demonstrate drill-downs into designations and wellness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by summarizing the overall project deliverables, the dual-dashboard reporting system, and the ongoing value for HR and leadership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13283D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1571923"/>
            <a:ext cx="640064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EMPLOYEE 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WELLNESS 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b="1" u="sng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11182" y="5073948"/>
            <a:ext cx="640064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Data Cleaning • Data Modeling • Dashboard Development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0010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Project Overview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696045"/>
            <a:ext cx="109725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Transforming raw employee wellness records into an interactive Power BI analytical model to track engagement and health outcomes.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534245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Source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933601"/>
            <a:ext cx="195069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Raw CSV exports tracking employee profiles and wellness activity logs.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64969" y="2534245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Data Cleaning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64969" y="2933601"/>
            <a:ext cx="195069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Power Query cleans, standardizes types, and creates analytical flags.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353" y="2534245"/>
            <a:ext cx="195088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Data Model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20353" y="2933601"/>
            <a:ext cx="195088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Star schema linking facts to dimensions, with a DAX Date table.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75936" y="2534245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Power BI Report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75936" y="2933601"/>
            <a:ext cx="195069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Two-page dashboard featuring slicers, drill-down, and trend visuals.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31320" y="2534245"/>
            <a:ext cx="195079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Wellness Analysis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31320" y="2933601"/>
            <a:ext cx="195079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Targeted insights across departments, designations, and goals.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585" y="5083175"/>
            <a:ext cx="5333867" cy="1266825"/>
          </a:xfrm>
          <a:prstGeom prst="roundRect">
            <a:avLst>
              <a:gd name="adj" fmla="val 7218"/>
            </a:avLst>
          </a:prstGeom>
          <a:solidFill>
            <a:srgbClr val="DDE0E5"/>
          </a:solidFill>
          <a:ln/>
        </p:spPr>
      </p:sp>
      <p:sp>
        <p:nvSpPr>
          <p:cNvPr id="16" name="Text 14"/>
          <p:cNvSpPr/>
          <p:nvPr/>
        </p:nvSpPr>
        <p:spPr>
          <a:xfrm>
            <a:off x="863578" y="5286375"/>
            <a:ext cx="48258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Core Objective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3578" y="5727700"/>
            <a:ext cx="482587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Analyze employee participation, activity completion rates, and wellness scores across departments.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8244" y="5083175"/>
            <a:ext cx="5333867" cy="1266825"/>
          </a:xfrm>
          <a:prstGeom prst="roundRect">
            <a:avLst>
              <a:gd name="adj" fmla="val 7218"/>
            </a:avLst>
          </a:prstGeom>
          <a:solidFill>
            <a:srgbClr val="DDE0E5"/>
          </a:solidFill>
          <a:ln/>
        </p:spPr>
      </p:sp>
      <p:sp>
        <p:nvSpPr>
          <p:cNvPr id="19" name="Text 17"/>
          <p:cNvSpPr/>
          <p:nvPr/>
        </p:nvSpPr>
        <p:spPr>
          <a:xfrm>
            <a:off x="6502237" y="5286375"/>
            <a:ext cx="48258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Tooling Stack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02237" y="5727700"/>
            <a:ext cx="482587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Microsoft Power BI Desktop, Power Query M engine, and DAX modeling for date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SCHEMA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0010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Data Sources &amp; Dataset Structure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696045"/>
            <a:ext cx="115821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analytical model integrates three primary tables connected through standardized primary and foreign keys.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204045"/>
            <a:ext cx="3454314" cy="4145955"/>
          </a:xfrm>
          <a:prstGeom prst="roundRect">
            <a:avLst>
              <a:gd name="adj" fmla="val 3971"/>
            </a:avLst>
          </a:prstGeom>
          <a:solidFill>
            <a:srgbClr val="13283D"/>
          </a:solidFill>
          <a:ln/>
        </p:spPr>
      </p:sp>
      <p:sp>
        <p:nvSpPr>
          <p:cNvPr id="6" name="Shape 4"/>
          <p:cNvSpPr/>
          <p:nvPr/>
        </p:nvSpPr>
        <p:spPr>
          <a:xfrm>
            <a:off x="863578" y="2483445"/>
            <a:ext cx="1093562" cy="270173"/>
          </a:xfrm>
          <a:prstGeom prst="roundRect">
            <a:avLst>
              <a:gd name="adj" fmla="val 22112"/>
            </a:avLst>
          </a:prstGeom>
          <a:solidFill>
            <a:srgbClr val="FFDBCC"/>
          </a:solidFill>
          <a:ln/>
        </p:spPr>
      </p:sp>
      <p:sp>
        <p:nvSpPr>
          <p:cNvPr id="7" name="Text 5"/>
          <p:cNvSpPr/>
          <p:nvPr/>
        </p:nvSpPr>
        <p:spPr>
          <a:xfrm>
            <a:off x="970236" y="2536726"/>
            <a:ext cx="148983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3578" y="2880618"/>
            <a:ext cx="294632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Employee_Wellness_Profile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3578" y="3601343"/>
            <a:ext cx="29463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9BD6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Granular demographic &amp; organizational attributes per employee.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3578" y="4198243"/>
            <a:ext cx="2946227" cy="19050"/>
          </a:xfrm>
          <a:prstGeom prst="roundRect">
            <a:avLst>
              <a:gd name="adj" fmla="val 49999"/>
            </a:avLst>
          </a:prstGeom>
          <a:solidFill>
            <a:srgbClr val="3D9BD6"/>
          </a:solidFill>
          <a:ln/>
        </p:spPr>
      </p:sp>
      <p:sp>
        <p:nvSpPr>
          <p:cNvPr id="11" name="Text 9"/>
          <p:cNvSpPr/>
          <p:nvPr/>
        </p:nvSpPr>
        <p:spPr>
          <a:xfrm>
            <a:off x="863578" y="4395093"/>
            <a:ext cx="2946326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Employee ID</a:t>
            </a: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 (Primary Key)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Department &amp; Designation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Wellness Goal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Activity Level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Wellness Score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1" y="2204045"/>
            <a:ext cx="3454314" cy="4145955"/>
          </a:xfrm>
          <a:prstGeom prst="roundRect">
            <a:avLst>
              <a:gd name="adj" fmla="val 3971"/>
            </a:avLst>
          </a:prstGeom>
          <a:solidFill>
            <a:srgbClr val="FF946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2684" y="2483445"/>
            <a:ext cx="1059233" cy="270173"/>
          </a:xfrm>
          <a:prstGeom prst="roundRect">
            <a:avLst>
              <a:gd name="adj" fmla="val 22112"/>
            </a:avLst>
          </a:prstGeom>
          <a:solidFill>
            <a:srgbClr val="FFDBCC"/>
          </a:solidFill>
          <a:ln/>
        </p:spPr>
      </p:sp>
      <p:sp>
        <p:nvSpPr>
          <p:cNvPr id="14" name="Text 12"/>
          <p:cNvSpPr/>
          <p:nvPr/>
        </p:nvSpPr>
        <p:spPr>
          <a:xfrm>
            <a:off x="4729342" y="2536726"/>
            <a:ext cx="145550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FACT 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2684" y="2880618"/>
            <a:ext cx="29463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Wellness_Activities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22684" y="3321943"/>
            <a:ext cx="29463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Transactional logs capturing wellness participation events.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2684" y="4115693"/>
            <a:ext cx="2946326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Activity ID</a:t>
            </a:r>
            <a:r>
              <a:rPr lang="en-US" sz="1400" dirty="0">
                <a:solidFill>
                  <a:srgbClr val="000000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 &amp; </a:t>
            </a:r>
            <a:r>
              <a:rPr lang="en-US" sz="14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Employee ID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Activity Date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Duration (Minutes)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Participation Status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Wellness Points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7797" y="2204045"/>
            <a:ext cx="3454314" cy="4145955"/>
          </a:xfrm>
          <a:prstGeom prst="roundRect">
            <a:avLst>
              <a:gd name="adj" fmla="val 3971"/>
            </a:avLst>
          </a:prstGeom>
          <a:solidFill>
            <a:srgbClr val="DDE0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1790" y="2483445"/>
            <a:ext cx="1429310" cy="27017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545D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8448" y="2536726"/>
            <a:ext cx="182557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DAX DIMENSION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81790" y="2880618"/>
            <a:ext cx="29463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Date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81790" y="3321943"/>
            <a:ext cx="29463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Common time intelligence dimension generated dynamically via DAX.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1790" y="3918843"/>
            <a:ext cx="2946227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381790" y="4115693"/>
            <a:ext cx="2946326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545D6B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Date</a:t>
            </a: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 (Date Key)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Year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Quarter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Month &amp; Month Name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Day of Week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38027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Data Cleaning &amp; Transformation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2733973"/>
            <a:ext cx="7010225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Get Data → Text/CSV → Transform Data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Promote headers and apply data types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Trim and Clean text; standardize categories and email casing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Convert dates using locale settings and fix inconsistent durations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Preserve missing values as null where data is not recorded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Add Completed Flag and Calories Recorded Flag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Font typeface="+mj-lt"/>
              <a:buAutoNum type="arabicPeriod" startAt="7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Run duplicate, missing Employee ID and key-consistency checks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76998" y="2733973"/>
            <a:ext cx="3505112" cy="990600"/>
          </a:xfrm>
          <a:prstGeom prst="rect">
            <a:avLst/>
          </a:prstGeom>
          <a:solidFill>
            <a:srgbClr val="13283D"/>
          </a:solidFill>
          <a:ln/>
        </p:spPr>
      </p:sp>
      <p:sp>
        <p:nvSpPr>
          <p:cNvPr id="5" name="Text 3"/>
          <p:cNvSpPr/>
          <p:nvPr/>
        </p:nvSpPr>
        <p:spPr>
          <a:xfrm>
            <a:off x="8305592" y="2962573"/>
            <a:ext cx="30479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Cancelled records remain available for cancellation analysis.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76998" y="4029373"/>
            <a:ext cx="3505112" cy="990600"/>
          </a:xfrm>
          <a:prstGeom prst="rect">
            <a:avLst/>
          </a:prstGeom>
          <a:solidFill>
            <a:srgbClr val="DDE0E5"/>
          </a:solidFill>
          <a:ln/>
        </p:spPr>
      </p:sp>
      <p:sp>
        <p:nvSpPr>
          <p:cNvPr id="7" name="Text 5"/>
          <p:cNvSpPr/>
          <p:nvPr/>
        </p:nvSpPr>
        <p:spPr>
          <a:xfrm>
            <a:off x="8305592" y="4257973"/>
            <a:ext cx="30479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“20 mins” is converted to numeric duration.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TRANSFORMATION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00100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From Raw Data to Analysis-Ready Dataset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66566"/>
            <a:ext cx="115821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Side-by-side comparison of the cleaned fact and dimension tables ready for reporting.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849166"/>
            <a:ext cx="5333867" cy="965398"/>
          </a:xfrm>
          <a:prstGeom prst="roundRect">
            <a:avLst>
              <a:gd name="adj" fmla="val 7104"/>
            </a:avLst>
          </a:prstGeom>
          <a:solidFill>
            <a:srgbClr val="13283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976166"/>
            <a:ext cx="497827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Cleaned Dimension: Employee_Wellness_Profile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966964"/>
            <a:ext cx="5333867" cy="10835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585" y="5202932"/>
            <a:ext cx="5333867" cy="1147068"/>
          </a:xfrm>
          <a:prstGeom prst="roundRect">
            <a:avLst>
              <a:gd name="adj" fmla="val 5979"/>
            </a:avLst>
          </a:prstGeom>
          <a:solidFill>
            <a:srgbClr val="DDE0E5"/>
          </a:solidFill>
          <a:ln/>
        </p:spPr>
      </p:sp>
      <p:sp>
        <p:nvSpPr>
          <p:cNvPr id="9" name="Text 6"/>
          <p:cNvSpPr/>
          <p:nvPr/>
        </p:nvSpPr>
        <p:spPr>
          <a:xfrm>
            <a:off x="787380" y="5329932"/>
            <a:ext cx="49782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45D6B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Profile Dimension:</a:t>
            </a: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 Standardized department, designation, and wellness score attributes keyed on unique Employee ID.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48244" y="2849166"/>
            <a:ext cx="5333867" cy="965398"/>
          </a:xfrm>
          <a:prstGeom prst="roundRect">
            <a:avLst>
              <a:gd name="adj" fmla="val 7104"/>
            </a:avLst>
          </a:prstGeom>
          <a:solidFill>
            <a:srgbClr val="13283D"/>
          </a:solidFill>
          <a:ln/>
        </p:spPr>
      </p:sp>
      <p:sp>
        <p:nvSpPr>
          <p:cNvPr id="11" name="Text 8"/>
          <p:cNvSpPr/>
          <p:nvPr/>
        </p:nvSpPr>
        <p:spPr>
          <a:xfrm>
            <a:off x="6425990" y="2976166"/>
            <a:ext cx="497827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Cleaned Fact: Wellness_Activities</a:t>
            </a:r>
            <a:endParaRPr lang="en-US" sz="1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3966964"/>
            <a:ext cx="5333867" cy="10835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48244" y="5202932"/>
            <a:ext cx="5333867" cy="1147068"/>
          </a:xfrm>
          <a:prstGeom prst="roundRect">
            <a:avLst>
              <a:gd name="adj" fmla="val 5979"/>
            </a:avLst>
          </a:prstGeom>
          <a:solidFill>
            <a:srgbClr val="DDE0E5"/>
          </a:solidFill>
          <a:ln/>
        </p:spPr>
      </p:sp>
      <p:sp>
        <p:nvSpPr>
          <p:cNvPr id="14" name="Text 10"/>
          <p:cNvSpPr/>
          <p:nvPr/>
        </p:nvSpPr>
        <p:spPr>
          <a:xfrm>
            <a:off x="6426039" y="5329932"/>
            <a:ext cx="49782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45D6B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Activities Fact:</a:t>
            </a: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 Standardized numeric durations, explicit Completed Flag, and preserved null values for unrecorded calories.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1000"/>
            <a:ext cx="116837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DATA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673100"/>
            <a:ext cx="11175720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Data Model &amp; Relationships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87" y="1575197"/>
            <a:ext cx="1168370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 simple STAR SCHEMA with Wellness_Activities at the centre, filtered by Employee_Wellness_Profile and Date dimensions.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045097"/>
            <a:ext cx="4466022" cy="4431903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1198" y="2433836"/>
          <a:ext cx="6252510" cy="914400"/>
        </p:xfrm>
        <a:graphic>
          <a:graphicData uri="http://schemas.openxmlformats.org/drawingml/2006/table">
            <a:tbl>
              <a:tblPr/>
              <a:tblGrid>
                <a:gridCol w="4234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1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C26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Relationship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C26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Cardinality &amp; filter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Employee_Wellness_Profile[Employee ID] → Wellness_Activities[Employee ID]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One-to-Many, Single, ACTIVE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Date[Date] → Wellness_Activities[Activity Date]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One-to-Many, Single, ACTIVE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55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Date[Date] → Employee_Wellness_Profile[Enrollment Date]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One-to-Many, Single, INACTIVE; enrollment analysis uses USERELATIONSHIP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31198" y="5821561"/>
            <a:ext cx="62525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45D6B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Hierarchy:</a:t>
            </a: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 Department → Designation supports dashboard drill-down.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DASHBOARD NAVIGATION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0010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Power BI Report Structure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696045"/>
            <a:ext cx="115821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interactive Power BI report is structured into two dedicated analytical views.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127845"/>
            <a:ext cx="5257668" cy="4224834"/>
          </a:xfrm>
          <a:prstGeom prst="roundRect">
            <a:avLst>
              <a:gd name="adj" fmla="val 3788"/>
            </a:avLst>
          </a:prstGeom>
          <a:solidFill>
            <a:srgbClr val="13283D"/>
          </a:solidFill>
          <a:ln/>
        </p:spPr>
      </p:sp>
      <p:sp>
        <p:nvSpPr>
          <p:cNvPr id="6" name="Shape 4"/>
          <p:cNvSpPr/>
          <p:nvPr/>
        </p:nvSpPr>
        <p:spPr>
          <a:xfrm>
            <a:off x="1015975" y="2483445"/>
            <a:ext cx="666535" cy="270173"/>
          </a:xfrm>
          <a:prstGeom prst="roundRect">
            <a:avLst>
              <a:gd name="adj" fmla="val 22112"/>
            </a:avLst>
          </a:prstGeom>
          <a:solidFill>
            <a:srgbClr val="FFDBCC"/>
          </a:solidFill>
          <a:ln/>
        </p:spPr>
      </p:sp>
      <p:sp>
        <p:nvSpPr>
          <p:cNvPr id="7" name="Text 5"/>
          <p:cNvSpPr/>
          <p:nvPr/>
        </p:nvSpPr>
        <p:spPr>
          <a:xfrm>
            <a:off x="1122632" y="2536726"/>
            <a:ext cx="1062805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PAGE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5975" y="2906018"/>
            <a:ext cx="444488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Overview Dashboard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15975" y="3578423"/>
            <a:ext cx="444488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9BD6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Macro-level health metrics, executive KPIs, and longitudinal monthly participation trends.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15975" y="4168973"/>
            <a:ext cx="4444889" cy="19050"/>
          </a:xfrm>
          <a:prstGeom prst="roundRect">
            <a:avLst>
              <a:gd name="adj" fmla="val 49999"/>
            </a:avLst>
          </a:prstGeom>
          <a:solidFill>
            <a:srgbClr val="3D9BD6"/>
          </a:solidFill>
          <a:ln/>
        </p:spPr>
      </p:sp>
      <p:sp>
        <p:nvSpPr>
          <p:cNvPr id="11" name="Text 9"/>
          <p:cNvSpPr/>
          <p:nvPr/>
        </p:nvSpPr>
        <p:spPr>
          <a:xfrm>
            <a:off x="1015975" y="4359473"/>
            <a:ext cx="444488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Visual Inventory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15975" y="4758829"/>
            <a:ext cx="4444889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Month slicer for temporal filtering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Average Wellness Score by Department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Average Activity Duration by Activity Type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Monthly Duration &amp; Wellness Points trend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4442" y="2127845"/>
            <a:ext cx="5257668" cy="4224834"/>
          </a:xfrm>
          <a:prstGeom prst="roundRect">
            <a:avLst>
              <a:gd name="adj" fmla="val 3788"/>
            </a:avLst>
          </a:prstGeom>
          <a:solidFill>
            <a:srgbClr val="DDE0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730832" y="2483445"/>
            <a:ext cx="701062" cy="27017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545D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7489" y="2536726"/>
            <a:ext cx="109733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PAGE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30832" y="2906018"/>
            <a:ext cx="444488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Wellness Analysis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30832" y="3578423"/>
            <a:ext cx="444488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Deep diagnostic exploration across organizational hierarchies, activity tiers, and personal goals.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30832" y="4168973"/>
            <a:ext cx="4444889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730832" y="4359473"/>
            <a:ext cx="444488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Visual Inventory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30832" y="4758829"/>
            <a:ext cx="4444889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Department → Designation hierarchy slicer</a:t>
            </a:r>
            <a:endParaRPr lang="en-US" sz="1400" dirty="0"/>
          </a:p>
          <a:p>
            <a:pPr marL="284480" indent="-284480">
              <a:lnSpc>
                <a:spcPct val="125000"/>
              </a:lnSpc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545D6B"/>
                </a:solidFill>
                <a:ea typeface="+mn-lt"/>
                <a:cs typeface="+mn-lt"/>
              </a:rPr>
              <a:t>Average Wellness Score vs Average Activity Duration by Department Scatter Chart</a:t>
            </a:r>
            <a:endParaRPr lang="en-US" sz="1400" dirty="0">
              <a:ea typeface="Calibri"/>
              <a:cs typeface="Calibri"/>
            </a:endParaRPr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Wellness Score by Activity Level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Wellness Score by Department &amp; Wellness Goal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Power BI Report — Page 1: Overview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005780"/>
            <a:ext cx="7538551" cy="54712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02030" y="1005780"/>
            <a:ext cx="3230879" cy="5471220"/>
          </a:xfrm>
          <a:prstGeom prst="roundRect">
            <a:avLst>
              <a:gd name="adj" fmla="val 2830"/>
            </a:avLst>
          </a:prstGeom>
          <a:solidFill>
            <a:srgbClr val="13283D"/>
          </a:solidFill>
          <a:ln/>
        </p:spPr>
      </p:sp>
      <p:sp>
        <p:nvSpPr>
          <p:cNvPr id="5" name="Text 2"/>
          <p:cNvSpPr/>
          <p:nvPr/>
        </p:nvSpPr>
        <p:spPr>
          <a:xfrm>
            <a:off x="8579826" y="1183580"/>
            <a:ext cx="2875287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Month slicer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Average Wellness Score by Department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Average Activity Duration by Activity Type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Monthly Duration &amp; Wellness Points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79826" y="3355280"/>
            <a:ext cx="287528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This page provides a high-level view of employee wellness scores, activity duration and monthly wellness trends.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672408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PAGE 2 VISUAL REPORT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749300"/>
            <a:ext cx="672408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Power BI Report — Page 2: Wellness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43155" y="812800"/>
            <a:ext cx="3486559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endParaRPr lang="en-US" sz="1700" b="1" dirty="0">
              <a:latin typeface="Mozilla Headline Bold"/>
              <a:ea typeface="Mozilla Headline Bold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53632" y="2859286"/>
            <a:ext cx="407927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100" dirty="0">
              <a:solidFill>
                <a:srgbClr val="3D9BD6"/>
              </a:solidFill>
              <a:latin typeface="Hubot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40057" y="2355133"/>
            <a:ext cx="4307871" cy="712291"/>
          </a:xfrm>
          <a:prstGeom prst="roundRect">
            <a:avLst>
              <a:gd name="adj" fmla="val 12837"/>
            </a:avLst>
          </a:prstGeom>
          <a:solidFill>
            <a:srgbClr val="DDE0E5"/>
          </a:solidFill>
          <a:ln/>
        </p:spPr>
      </p:sp>
      <p:sp>
        <p:nvSpPr>
          <p:cNvPr id="11" name="Text 8"/>
          <p:cNvSpPr/>
          <p:nvPr/>
        </p:nvSpPr>
        <p:spPr>
          <a:xfrm>
            <a:off x="7531588" y="2600506"/>
            <a:ext cx="41300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Department → Designation hierarchy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40057" y="3435485"/>
            <a:ext cx="4307871" cy="712391"/>
          </a:xfrm>
          <a:prstGeom prst="roundRect">
            <a:avLst>
              <a:gd name="adj" fmla="val 12835"/>
            </a:avLst>
          </a:prstGeom>
          <a:solidFill>
            <a:srgbClr val="DDE0E5"/>
          </a:solidFill>
          <a:ln/>
        </p:spPr>
      </p:sp>
      <p:sp>
        <p:nvSpPr>
          <p:cNvPr id="13" name="Text 10"/>
          <p:cNvSpPr/>
          <p:nvPr/>
        </p:nvSpPr>
        <p:spPr>
          <a:xfrm>
            <a:off x="7603475" y="3436443"/>
            <a:ext cx="41300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Average Wellness Score by Activity Level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68170" y="4717218"/>
            <a:ext cx="4307871" cy="979091"/>
          </a:xfrm>
          <a:prstGeom prst="roundRect">
            <a:avLst>
              <a:gd name="adj" fmla="val 9339"/>
            </a:avLst>
          </a:prstGeom>
          <a:solidFill>
            <a:srgbClr val="DDE0E5"/>
          </a:solidFill>
          <a:ln/>
        </p:spPr>
      </p:sp>
      <p:sp>
        <p:nvSpPr>
          <p:cNvPr id="15" name="Text 12"/>
          <p:cNvSpPr/>
          <p:nvPr/>
        </p:nvSpPr>
        <p:spPr>
          <a:xfrm>
            <a:off x="7502833" y="4775686"/>
            <a:ext cx="39522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Average Wellness Score by Department and Wellness Goal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7F0181-046C-3B3F-30FF-36B53B05B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37" y="1780726"/>
            <a:ext cx="7322748" cy="4892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6329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IMPACT &amp; DELIVERABLES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749300"/>
            <a:ext cx="11074123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Project Outcome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58786" y="1645245"/>
            <a:ext cx="1107412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project transforms raw employee wellness data into an interactive Power BI analytical model and dashboard for exploring participation, wellness and employee engagement.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58786" y="3124498"/>
            <a:ext cx="11074123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Wellness participation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Completed vs planned activities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Wellness points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Activity types and duration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Calories recorded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Monthly trends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Department-level participation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Overall employee engagement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18</cp:revision>
  <dcterms:created xsi:type="dcterms:W3CDTF">2026-10-04T07:53:58Z</dcterms:created>
  <dcterms:modified xsi:type="dcterms:W3CDTF">2026-10-05T05:46:21Z</dcterms:modified>
</cp:coreProperties>
</file>